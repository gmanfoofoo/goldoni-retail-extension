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280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74320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C8A25C"/>
                </a:solidFill>
                <a:latin typeface="Georgia"/>
              </a:defRPr>
            </a:pPr>
            <a:r>
              <a:t>GOLDONI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F0E6"/>
                </a:solidFill>
                <a:latin typeface="Georgia"/>
              </a:defRPr>
            </a:pPr>
            <a:r>
              <a:t>Vakuumierte Gerichte aus deiner Küche — zum Mitnehmen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0C8BC"/>
                </a:solidFill>
                <a:latin typeface="Georgia"/>
              </a:defRPr>
            </a:pPr>
            <a:r>
              <a:t>Ein Vorschlag von German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Worum es geht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rPr dirty="0" err="1"/>
              <a:t>Deine</a:t>
            </a:r>
            <a:r>
              <a:rPr dirty="0"/>
              <a:t> </a:t>
            </a:r>
            <a:r>
              <a:rPr dirty="0" err="1"/>
              <a:t>Küche</a:t>
            </a:r>
            <a:r>
              <a:rPr dirty="0"/>
              <a:t> </a:t>
            </a:r>
            <a:r>
              <a:rPr dirty="0" err="1"/>
              <a:t>kocht</a:t>
            </a:r>
            <a:r>
              <a:rPr dirty="0"/>
              <a:t> </a:t>
            </a:r>
            <a:r>
              <a:rPr dirty="0" err="1"/>
              <a:t>jeden</a:t>
            </a:r>
            <a:r>
              <a:rPr dirty="0"/>
              <a:t> Tag Ragù, Sugo, </a:t>
            </a:r>
            <a:r>
              <a:rPr dirty="0" err="1"/>
              <a:t>Lasagne</a:t>
            </a:r>
            <a:r>
              <a:rPr dirty="0"/>
              <a:t>, Parmigiana —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rPr dirty="0"/>
              <a:t>für die </a:t>
            </a:r>
            <a:r>
              <a:rPr dirty="0" err="1"/>
              <a:t>Gäste</a:t>
            </a:r>
            <a:r>
              <a:rPr dirty="0"/>
              <a:t> am Tisch.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endParaRPr dirty="0"/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rPr dirty="0"/>
              <a:t>Die Idee: </a:t>
            </a:r>
            <a:r>
              <a:rPr dirty="0" err="1"/>
              <a:t>einen</a:t>
            </a:r>
            <a:r>
              <a:rPr dirty="0"/>
              <a:t> Teil </a:t>
            </a:r>
            <a:r>
              <a:rPr dirty="0" err="1"/>
              <a:t>davon</a:t>
            </a:r>
            <a:r>
              <a:rPr dirty="0"/>
              <a:t> </a:t>
            </a:r>
            <a:r>
              <a:rPr dirty="0" err="1"/>
              <a:t>vakuumiert</a:t>
            </a:r>
            <a:r>
              <a:rPr dirty="0"/>
              <a:t> in den </a:t>
            </a:r>
            <a:r>
              <a:rPr dirty="0" err="1"/>
              <a:t>Kühlschrank</a:t>
            </a:r>
            <a:r>
              <a:rPr dirty="0"/>
              <a:t> </a:t>
            </a:r>
            <a:r>
              <a:rPr dirty="0" err="1"/>
              <a:t>packen</a:t>
            </a:r>
            <a:endParaRPr dirty="0"/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rPr dirty="0"/>
              <a:t>und </a:t>
            </a:r>
            <a:r>
              <a:rPr dirty="0" err="1"/>
              <a:t>verkaufen</a:t>
            </a:r>
            <a:r>
              <a:rPr dirty="0"/>
              <a:t>. Zum </a:t>
            </a:r>
            <a:r>
              <a:rPr dirty="0" err="1"/>
              <a:t>Mitnehmen</a:t>
            </a:r>
            <a:r>
              <a:rPr dirty="0"/>
              <a:t>, </a:t>
            </a: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Vorbestellen</a:t>
            </a:r>
            <a:r>
              <a:rPr dirty="0"/>
              <a:t>,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r>
              <a:rPr dirty="0" err="1"/>
              <a:t>über</a:t>
            </a:r>
            <a:r>
              <a:rPr dirty="0"/>
              <a:t> Wolt und Uber Eats.</a:t>
            </a:r>
          </a:p>
          <a:p>
            <a:pPr>
              <a:spcAft>
                <a:spcPts val="1056"/>
              </a:spcAft>
              <a:defRPr sz="2200" b="0">
                <a:solidFill>
                  <a:srgbClr val="F5F0E6"/>
                </a:solidFill>
                <a:latin typeface="Georgia"/>
              </a:defRPr>
            </a:pPr>
            <a:endParaRPr dirty="0"/>
          </a:p>
          <a:p>
            <a:pPr>
              <a:spcAft>
                <a:spcPts val="1056"/>
              </a:spcAft>
              <a:defRPr sz="2200" b="1">
                <a:solidFill>
                  <a:srgbClr val="F5F0E6"/>
                </a:solidFill>
                <a:latin typeface="Georgia"/>
              </a:defRPr>
            </a:pPr>
            <a:r>
              <a:rPr dirty="0"/>
              <a:t>Kein </a:t>
            </a:r>
            <a:r>
              <a:rPr dirty="0" err="1"/>
              <a:t>neues</a:t>
            </a:r>
            <a:r>
              <a:rPr dirty="0"/>
              <a:t> </a:t>
            </a:r>
            <a:r>
              <a:rPr dirty="0" err="1"/>
              <a:t>Geschäft</a:t>
            </a:r>
            <a:r>
              <a:rPr dirty="0"/>
              <a:t>,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</a:t>
            </a:r>
            <a:r>
              <a:rPr dirty="0" err="1"/>
              <a:t>Küche</a:t>
            </a:r>
            <a:r>
              <a:rPr dirty="0"/>
              <a:t>.</a:t>
            </a:r>
          </a:p>
          <a:p>
            <a:pPr>
              <a:spcAft>
                <a:spcPts val="1056"/>
              </a:spcAft>
              <a:defRPr sz="2200" b="1">
                <a:solidFill>
                  <a:srgbClr val="F5F0E6"/>
                </a:solidFill>
                <a:latin typeface="Georgia"/>
              </a:defRPr>
            </a:pPr>
            <a:r>
              <a:rPr dirty="0" err="1"/>
              <a:t>Dasselbe</a:t>
            </a:r>
            <a:r>
              <a:rPr dirty="0"/>
              <a:t> Essen,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zusätzlich</a:t>
            </a:r>
            <a:r>
              <a:rPr dirty="0"/>
              <a:t> </a:t>
            </a:r>
            <a:r>
              <a:rPr dirty="0" err="1"/>
              <a:t>verpackt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Die gute Nachricht zuerst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2000" b="1">
                <a:solidFill>
                  <a:srgbClr val="F5F0E6"/>
                </a:solidFill>
                <a:latin typeface="Georgia"/>
              </a:defRPr>
            </a:pPr>
            <a:r>
              <a:t>Die Steuer-Frage ist vom Tisch.</a:t>
            </a:r>
          </a:p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r>
              <a:t>Seit Januar 2026 steht im Gesetz: 7 % auf Speisen,</a:t>
            </a:r>
          </a:p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r>
              <a:t>dauerhaft, auch auf das, was der Gast mitnimmt.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2000" b="1">
                <a:solidFill>
                  <a:srgbClr val="F5F0E6"/>
                </a:solidFill>
                <a:latin typeface="Georgia"/>
              </a:defRPr>
            </a:pPr>
            <a:r>
              <a:t>Es gibt Fördergeld.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106984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Programm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Was wird bezahlt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Zuschuss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BAFA Beratungsförderung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Steuerberater, Anwalt, Berater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50 %, max. 1.750 €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BW Beratungsrichtlinie (IHK)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HACCP-Aufbau, Lebensmittelsicherheit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80 %, max. 1.920 €/Jahr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8E4E"/>
                </a:solidFill>
                <a:latin typeface="Georgia"/>
              </a:defRPr>
            </a:pPr>
            <a:r>
              <a:t>Zusammen: bis zu 3.670 € Zuschuss. Ich stelle die Anträge, du unterschreibst.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Was du schon hast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8E4E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0E6"/>
                </a:solidFill>
                <a:latin typeface="Georgia"/>
              </a:defRPr>
            </a:pPr>
            <a:r>
              <a:t>Eine Küche, die jeden Tag genau diese Gerichte kocht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8E4E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0E6"/>
                </a:solidFill>
                <a:latin typeface="Georgia"/>
              </a:defRPr>
            </a:pPr>
            <a:r>
              <a:t>Einen Kühlschrank und Kühlzelle, die funktionieren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8E4E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0E6"/>
                </a:solidFill>
                <a:latin typeface="Georgia"/>
              </a:defRPr>
            </a:pPr>
            <a:r>
              <a:t>Ein Team, das die Abläufe kennt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8E4E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661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0E6"/>
                </a:solidFill>
                <a:latin typeface="Georgia"/>
              </a:defRPr>
            </a:pPr>
            <a:r>
              <a:t>Stammgäste, die dein Essen lieben und wiederkommen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8E4E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206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0E6"/>
                </a:solidFill>
                <a:latin typeface="Georgia"/>
              </a:defRPr>
            </a:pPr>
            <a:r>
              <a:t>Einen Steuerberater, der dein Geschäft kennt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8E4E"/>
                </a:solidFill>
                <a:latin typeface="Georgia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846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0E6"/>
                </a:solidFill>
                <a:latin typeface="Georgia"/>
              </a:defRPr>
            </a:pPr>
            <a:r>
              <a:t>Einen Schädlingsbekämpfer-Vertrag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25C"/>
                </a:solidFill>
                <a:latin typeface="Georgia"/>
              </a:defRPr>
            </a:pPr>
            <a:r>
              <a:t>Das Projekt baut auf 25 Jahren Goldoni auf. Eine Erweiterung, kein Neuanfang.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Fünf Produkte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Produkt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Portion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Preis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Verdienst pro Stück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Lasagne Classica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400g, 1–2 Personen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13,50 €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6,25 €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Lasagne Verdure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400g, 1–2 Personen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12,00 €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6,50 €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Ragù Bolognese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350g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9,00 €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4,65 €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Sugo Pomodoro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500g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7,00 €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4,00 €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Parmigiana di Melanzane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400g, 1–2 Personen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12,00 €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7,15 €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6"/>
                </a:solidFill>
                <a:latin typeface="Georgia"/>
              </a:defRPr>
            </a:pPr>
            <a:r>
              <a:t>Keine Tiefkühl-Ware. Alles frisch vakuumiert, eine Woche haltbar im Kühlschrank.</a:t>
            </a:r>
            <a:br/>
            <a:r>
              <a:t>Wie beim Metzger um die Ecke — nur aus deiner Küche.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Was es kostet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0E6"/>
                </a:solidFill>
                <a:latin typeface="Georgia"/>
              </a:defRPr>
            </a:pPr>
            <a:r>
              <a:t>Gesamt-Investition: rund 6.000 €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Kosten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Vakuumierer (z. B. Henkelman)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2.500 €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Etikettendrucker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240 €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Verpackungsmaterial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400 €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HACCP-Beratung (einmalig)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800 €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Labor-Nährwertanalyse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500 €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Anwalt (AGB, Datenschutz)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1.000 €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Sonstiges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600 €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2194560"/>
            <a:ext cx="3931920" cy="3200400"/>
          </a:xfrm>
          <a:prstGeom prst="rect">
            <a:avLst/>
          </a:prstGeom>
          <a:solidFill>
            <a:srgbClr val="3A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0" y="237744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 b="1">
                <a:solidFill>
                  <a:srgbClr val="F5F0E6"/>
                </a:solidFill>
                <a:latin typeface="Georgia"/>
              </a:defRPr>
            </a:pPr>
            <a:r>
              <a:t>Fördergeld:</a:t>
            </a:r>
          </a:p>
          <a:p>
            <a:pPr>
              <a:spcAft>
                <a:spcPts val="768"/>
              </a:spcAft>
              <a:defRPr sz="1600" b="0">
                <a:solidFill>
                  <a:srgbClr val="F5F0E6"/>
                </a:solidFill>
                <a:latin typeface="Georgia"/>
              </a:defRPr>
            </a:pPr>
            <a:r>
              <a:t>bis zu 3.670 € zurück</a:t>
            </a:r>
          </a:p>
          <a:p>
            <a:pPr>
              <a:spcAft>
                <a:spcPts val="768"/>
              </a:spcAft>
              <a:defRPr sz="1600" b="0">
                <a:solidFill>
                  <a:srgbClr val="F5F0E6"/>
                </a:solidFill>
                <a:latin typeface="Georgia"/>
              </a:defRPr>
            </a:pPr>
            <a:endParaRPr/>
          </a:p>
          <a:p>
            <a:pPr>
              <a:spcAft>
                <a:spcPts val="768"/>
              </a:spcAft>
              <a:defRPr sz="1600" b="1">
                <a:solidFill>
                  <a:srgbClr val="F5F0E6"/>
                </a:solidFill>
                <a:latin typeface="Georgia"/>
              </a:defRPr>
            </a:pPr>
            <a:r>
              <a:t>Dein Eigenanteil:</a:t>
            </a:r>
          </a:p>
          <a:p>
            <a:pPr>
              <a:spcAft>
                <a:spcPts val="768"/>
              </a:spcAft>
              <a:defRPr sz="1600" b="0">
                <a:solidFill>
                  <a:srgbClr val="F5F0E6"/>
                </a:solidFill>
                <a:latin typeface="Georgia"/>
              </a:defRPr>
            </a:pPr>
            <a:r>
              <a:t>2.300 – 3.000 €</a:t>
            </a:r>
          </a:p>
          <a:p>
            <a:pPr>
              <a:spcAft>
                <a:spcPts val="768"/>
              </a:spcAft>
              <a:defRPr sz="1600" b="0">
                <a:solidFill>
                  <a:srgbClr val="F5F0E6"/>
                </a:solidFill>
                <a:latin typeface="Georgia"/>
              </a:defRPr>
            </a:pPr>
            <a:endParaRPr/>
          </a:p>
          <a:p>
            <a:pPr>
              <a:spcAft>
                <a:spcPts val="768"/>
              </a:spcAft>
              <a:defRPr sz="1600" b="1">
                <a:solidFill>
                  <a:srgbClr val="F5F0E6"/>
                </a:solidFill>
                <a:latin typeface="Georgia"/>
              </a:defRPr>
            </a:pPr>
            <a:r>
              <a:t>Falls du stoppst:</a:t>
            </a:r>
          </a:p>
          <a:p>
            <a:pPr>
              <a:spcAft>
                <a:spcPts val="768"/>
              </a:spcAft>
              <a:defRPr sz="1600" b="0">
                <a:solidFill>
                  <a:srgbClr val="F5F0E6"/>
                </a:solidFill>
                <a:latin typeface="Georgia"/>
              </a:defRPr>
            </a:pPr>
            <a:r>
              <a:t>Vakuumierer bleibt nützlich.</a:t>
            </a:r>
          </a:p>
          <a:p>
            <a:pPr>
              <a:spcAft>
                <a:spcPts val="768"/>
              </a:spcAft>
              <a:defRPr sz="1600" b="0">
                <a:solidFill>
                  <a:srgbClr val="F5F0E6"/>
                </a:solidFill>
                <a:latin typeface="Georgia"/>
              </a:defRPr>
            </a:pPr>
            <a:r>
              <a:t>Risiko-Kapital: 3.000–4.500 €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Was es bringt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Szenario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Verkauf / Woche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Pro Monat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Pro Jahr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Vorsichtig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25 Stück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100–150 €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1.500 €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Realistisch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50 Stück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330–400 €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4.000 €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Gut läuft's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80 Stück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650–700 €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ca. 8.000 €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4747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r>
              <a:t>Nach Abzug von Wareneinsatz, Verpackung, Arbeitszeit, Verderb,</a:t>
            </a:r>
          </a:p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r>
              <a:t>Plattform-Gebühren und Steuern.</a:t>
            </a:r>
          </a:p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endParaRPr/>
          </a:p>
          <a:p>
            <a:pPr>
              <a:spcAft>
                <a:spcPts val="960"/>
              </a:spcAft>
              <a:defRPr sz="2000" b="1">
                <a:solidFill>
                  <a:srgbClr val="F5F0E6"/>
                </a:solidFill>
                <a:latin typeface="Georgia"/>
              </a:defRPr>
            </a:pPr>
            <a:r>
              <a:t>Keine Goldgrube, aber ein solider Zusatzverdienst —</a:t>
            </a:r>
          </a:p>
          <a:p>
            <a:pPr>
              <a:spcAft>
                <a:spcPts val="960"/>
              </a:spcAft>
              <a:defRPr sz="2000" b="1">
                <a:solidFill>
                  <a:srgbClr val="F5F0E6"/>
                </a:solidFill>
                <a:latin typeface="Georgia"/>
              </a:defRPr>
            </a:pPr>
            <a:r>
              <a:t>und du nutzt Kapazität, die sowieso da ist.</a:t>
            </a:r>
          </a:p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endParaRPr/>
          </a:p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r>
              <a:t>Investition zurück: im realistischen Szenario nach 12–13 Monaten.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Wie lange es dauert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0E6"/>
                </a:solidFill>
                <a:latin typeface="Georgia"/>
              </a:defRPr>
            </a:pPr>
            <a:r>
              <a:t>10 bis 12 Wochen, in vier Stufen.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698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Stufe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Was passiert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Dauer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C241E"/>
                          </a:solidFill>
                          <a:latin typeface="Georgia"/>
                        </a:defRPr>
                      </a:pPr>
                      <a:r>
                        <a:t>Kosten</a:t>
                      </a:r>
                    </a:p>
                  </a:txBody>
                  <a:tcPr>
                    <a:solidFill>
                      <a:srgbClr val="C8A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1. Vorbereitung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Vetamt, Gewerbe, Ausrüstung, HACCP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4 Wochen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1.200–6.500 €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2. Aufbau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Erste Produktion, Etiketten, Abläufe testen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5 Wochen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600–1.350 €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3. Testlauf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30–50 Portionen/Woche, nur Stammgäste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2 Wochen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300–500 €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4. Echter Start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Wolt/Uber dazu, Webshop-Vorbestellung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laufend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5F0E6"/>
                          </a:solidFill>
                          <a:latin typeface="Georgia"/>
                        </a:defRPr>
                      </a:pPr>
                      <a:r>
                        <a:t>250–550 €</a:t>
                      </a:r>
                    </a:p>
                  </a:txBody>
                  <a:tcPr>
                    <a:solidFill>
                      <a:srgbClr val="3A3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3"/>
              </a:spcAft>
              <a:defRPr sz="1800" b="1">
                <a:solidFill>
                  <a:srgbClr val="F5F0E6"/>
                </a:solidFill>
                <a:latin typeface="Georgia"/>
              </a:defRPr>
            </a:pPr>
            <a:r>
              <a:t>Zwischen jeder Stufe gibt es eine Prüfung.</a:t>
            </a:r>
          </a:p>
          <a:p>
            <a:pPr>
              <a:spcAft>
                <a:spcPts val="863"/>
              </a:spcAft>
              <a:defRPr sz="1800" b="0">
                <a:solidFill>
                  <a:srgbClr val="F5F0E6"/>
                </a:solidFill>
                <a:latin typeface="Georgia"/>
              </a:defRPr>
            </a:pPr>
            <a:r>
              <a:t>Wenn der Testlauf zeigt, dass es nicht funktioniert — stoppen wir.</a:t>
            </a:r>
          </a:p>
          <a:p>
            <a:pPr>
              <a:spcAft>
                <a:spcPts val="863"/>
              </a:spcAft>
              <a:defRPr sz="1800" b="0">
                <a:solidFill>
                  <a:srgbClr val="F5F0E6"/>
                </a:solidFill>
                <a:latin typeface="Georgia"/>
              </a:defRPr>
            </a:pPr>
            <a:r>
              <a:t>Kein Geld mehr rein, Lektion gelernt, Vakuumierer bleibt.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Was du machen musst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25C"/>
                </a:solidFill>
                <a:latin typeface="Georgia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6"/>
                </a:solidFill>
                <a:latin typeface="Georgia"/>
              </a:defRPr>
            </a:pPr>
            <a:r>
              <a:t>Vetamt anrufen.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C8BC"/>
                </a:solidFill>
                <a:latin typeface="Georgia"/>
              </a:defRPr>
            </a:pPr>
            <a:r>
              <a:t>10 Minuten, eine Frage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25C"/>
                </a:solidFill>
                <a:latin typeface="Georgia"/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6"/>
                </a:solidFill>
                <a:latin typeface="Georgia"/>
              </a:defRPr>
            </a:pPr>
            <a:r>
              <a:t>Kasse prüfen.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03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C8BC"/>
                </a:solidFill>
                <a:latin typeface="Georgia"/>
              </a:defRPr>
            </a:pPr>
            <a:r>
              <a:t>7 % und 19 % nebeneinander?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25C"/>
                </a:solidFill>
                <a:latin typeface="Georgia"/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6"/>
                </a:solidFill>
                <a:latin typeface="Georgia"/>
              </a:defRPr>
            </a:pPr>
            <a:r>
              <a:t>Schädlingsbekämpfer fragen.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51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C8BC"/>
                </a:solidFill>
                <a:latin typeface="Georgia"/>
              </a:defRPr>
            </a:pPr>
            <a:r>
              <a:t>Vertrag reicht?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3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25C"/>
                </a:solidFill>
                <a:latin typeface="Georgia"/>
              </a:defRPr>
            </a:pPr>
            <a: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0039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6"/>
                </a:solidFill>
                <a:latin typeface="Georgia"/>
              </a:defRPr>
            </a:pPr>
            <a:r>
              <a:t>Drei Mails verschicken.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20039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C8BC"/>
                </a:solidFill>
                <a:latin typeface="Georgia"/>
              </a:defRPr>
            </a:pPr>
            <a:r>
              <a:t>Text kommt fertig von mir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25C"/>
                </a:solidFill>
                <a:latin typeface="Georgia"/>
              </a:defRPr>
            </a:pPr>
            <a: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49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6"/>
                </a:solidFill>
                <a:latin typeface="Georgia"/>
              </a:defRPr>
            </a:pPr>
            <a:r>
              <a:t>Zwei Lieferanten-Nachrichten.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749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C8BC"/>
                </a:solidFill>
                <a:latin typeface="Georgia"/>
              </a:defRPr>
            </a:pPr>
            <a:r>
              <a:t>Herkunft + Beutel-Dokument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25C"/>
                </a:solidFill>
                <a:latin typeface="Georgia"/>
              </a:defRPr>
            </a:pPr>
            <a: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6"/>
                </a:solidFill>
                <a:latin typeface="Georgia"/>
              </a:defRPr>
            </a:pPr>
            <a:r>
              <a:t>Belehrung Gesundheitsamt.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297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C8BC"/>
                </a:solidFill>
                <a:latin typeface="Georgia"/>
              </a:defRPr>
            </a:pPr>
            <a:r>
              <a:t>Einmalig, halbe Stunde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A25C"/>
                </a:solidFill>
                <a:latin typeface="Georgia"/>
              </a:defRPr>
            </a:pPr>
            <a: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463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6"/>
                </a:solidFill>
                <a:latin typeface="Georgia"/>
              </a:defRPr>
            </a:pPr>
            <a:r>
              <a:t>Einen Zettel schreiben.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84631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C8BC"/>
                </a:solidFill>
                <a:latin typeface="Georgia"/>
              </a:defRPr>
            </a:pPr>
            <a:r>
              <a:t>HACCP-Verantwortlicher, 2 Min.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A25C"/>
                </a:solidFill>
                <a:latin typeface="Georgia"/>
              </a:defRPr>
            </a:pPr>
            <a:r>
              <a:t>Dein Zeitaufwand: ein halber Arbeitstag, über 2–3 Wochen verteilt.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Was ich mache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A25C"/>
                </a:solidFill>
                <a:latin typeface="Georgia"/>
              </a:defRPr>
            </a:pPr>
            <a: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6"/>
                </a:solidFill>
                <a:latin typeface="Georgia"/>
              </a:defRPr>
            </a:pPr>
            <a:r>
              <a:t>Fördergeld-Anträge vorbereiten (BAFA + IHK)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A25C"/>
                </a:solidFill>
                <a:latin typeface="Georgia"/>
              </a:defRPr>
            </a:pPr>
            <a: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6"/>
                </a:solidFill>
                <a:latin typeface="Georgia"/>
              </a:defRPr>
            </a:pPr>
            <a:r>
              <a:t>Drei Mail-Texte schreiben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A25C"/>
                </a:solidFill>
                <a:latin typeface="Georgia"/>
              </a:defRPr>
            </a:pPr>
            <a: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6"/>
                </a:solidFill>
                <a:latin typeface="Georgia"/>
              </a:defRPr>
            </a:pPr>
            <a:r>
              <a:t>Labor-Angebote einholen (Nährwertanalyse)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3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A25C"/>
                </a:solidFill>
                <a:latin typeface="Georgia"/>
              </a:defRPr>
            </a:pPr>
            <a: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39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6"/>
                </a:solidFill>
                <a:latin typeface="Georgia"/>
              </a:defRPr>
            </a:pPr>
            <a:r>
              <a:t>Etikett-Design koordinieren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A25C"/>
                </a:solidFill>
                <a:latin typeface="Georgia"/>
              </a:defRPr>
            </a:pPr>
            <a: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6"/>
                </a:solidFill>
                <a:latin typeface="Georgia"/>
              </a:defRPr>
            </a:pPr>
            <a:r>
              <a:t>Vetamt-Termin vorbereiten (Fragen, Unterlagen)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A25C"/>
                </a:solidFill>
                <a:latin typeface="Georgia"/>
              </a:defRPr>
            </a:pPr>
            <a: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6"/>
                </a:solidFill>
                <a:latin typeface="Georgia"/>
              </a:defRPr>
            </a:pPr>
            <a:r>
              <a:t>IHK-Erstberatung buchen und mitkommen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A25C"/>
                </a:solidFill>
                <a:latin typeface="Georgia"/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6"/>
                </a:solidFill>
                <a:latin typeface="Georgia"/>
              </a:defRPr>
            </a:pPr>
            <a:r>
              <a:t>Gewerbeanzeige-Formular holen und mit dir ausfüllen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A25C"/>
                </a:solidFill>
                <a:latin typeface="Georgia"/>
              </a:defRPr>
            </a:pPr>
            <a: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F0E6"/>
                </a:solidFill>
                <a:latin typeface="Georgia"/>
              </a:defRPr>
            </a:pPr>
            <a:r>
              <a:t>Webshop-Seite einrichten (einfach, zum Vorbestellen)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0C8BC"/>
                </a:solidFill>
                <a:latin typeface="Georgia"/>
              </a:defRPr>
            </a:pPr>
            <a:r>
              <a:t>Du siehst davon nichts, bis es zu einer Frage für dich wird.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Wo es heikel werden kann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4A4A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0E6"/>
                </a:solidFill>
                <a:latin typeface="Georgia"/>
              </a:defRPr>
            </a:pPr>
            <a:r>
              <a:t>Haltbarkeit.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C8BC"/>
                </a:solidFill>
                <a:latin typeface="Georgia"/>
              </a:defRPr>
            </a:pPr>
            <a:r>
              <a:t>Vakuumierte Kühlware hält eine Woche — aber nur bei sauberer Kühlkette. Deshalb testen wir das mit einem Labor, bevor irgendwas verkauft wird.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4A4A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0E6"/>
                </a:solidFill>
                <a:latin typeface="Georgia"/>
              </a:defRPr>
            </a:pPr>
            <a:r>
              <a:t>Etiketten.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88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C8BC"/>
                </a:solidFill>
                <a:latin typeface="Georgia"/>
              </a:defRPr>
            </a:pPr>
            <a:r>
              <a:t>Die Behörde will 13 Pflichtangaben auf dem Etikett. Klingt viel, ist Standard. Ich bereite alles vor, du gibst mir die Rezepte in Gramm.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4A4A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45289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0E6"/>
                </a:solidFill>
                <a:latin typeface="Georgia"/>
              </a:defRPr>
            </a:pPr>
            <a:r>
              <a:t>Neues Haftungsgesetz ab Dez.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C8BC"/>
                </a:solidFill>
                <a:latin typeface="Georgia"/>
              </a:defRPr>
            </a:pPr>
            <a:r>
              <a:t>Strengere Regeln für Produkthaftung. Heißt: Chargen-Protokoll sauber führen. Ich baue die Vorlage.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4A4A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4297680"/>
            <a:ext cx="579014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0E6"/>
                </a:solidFill>
                <a:latin typeface="Georgia"/>
              </a:defRPr>
            </a:pPr>
            <a:r>
              <a:rPr dirty="0"/>
              <a:t>Du </a:t>
            </a:r>
            <a:r>
              <a:rPr dirty="0" err="1"/>
              <a:t>brauchst</a:t>
            </a:r>
            <a:r>
              <a:rPr dirty="0"/>
              <a:t> </a:t>
            </a:r>
            <a:r>
              <a:rPr dirty="0" err="1"/>
              <a:t>jemanden</a:t>
            </a:r>
            <a:r>
              <a:rPr dirty="0"/>
              <a:t> für die Produktion.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C8BC"/>
                </a:solidFill>
                <a:latin typeface="Georgia"/>
              </a:defRPr>
            </a:pPr>
            <a:r>
              <a:t>Einfache Gerichte, kann ein Koch oder eine Hilfskraft am Vormittag machen. Wer das ist — entscheidest du.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4A4A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5212080"/>
            <a:ext cx="48126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0E6"/>
                </a:solidFill>
                <a:latin typeface="Georgia"/>
              </a:defRPr>
            </a:pPr>
            <a:r>
              <a:rPr dirty="0" err="1"/>
              <a:t>Nachfrage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Wette.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C8BC"/>
                </a:solidFill>
                <a:latin typeface="Georgia"/>
              </a:defRPr>
            </a:pPr>
            <a:r>
              <a:t>Deshalb der Testlauf: erst Stammgäste, kleine Menge, zwei Wochen schauen.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25C"/>
                </a:solidFill>
                <a:latin typeface="Georgia"/>
              </a:defRPr>
            </a:pPr>
            <a:r>
              <a:t>Der eine nächste Schritt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52"/>
              </a:spcAft>
              <a:defRPr sz="2400" b="0">
                <a:solidFill>
                  <a:srgbClr val="F5F0E6"/>
                </a:solidFill>
                <a:latin typeface="Georgia"/>
              </a:defRPr>
            </a:pPr>
            <a:r>
              <a:t>Wenn du nach diesem Gespräch sagst</a:t>
            </a:r>
          </a:p>
          <a:p>
            <a:pPr>
              <a:spcAft>
                <a:spcPts val="1152"/>
              </a:spcAft>
              <a:defRPr sz="2400" b="0">
                <a:solidFill>
                  <a:srgbClr val="F5F0E6"/>
                </a:solidFill>
                <a:latin typeface="Georgia"/>
              </a:defRPr>
            </a:pPr>
            <a:r>
              <a:t>"klingt gut, lass uns mal schauen":</a:t>
            </a:r>
          </a:p>
          <a:p>
            <a:pPr>
              <a:spcAft>
                <a:spcPts val="1152"/>
              </a:spcAft>
              <a:defRPr sz="2400" b="0">
                <a:solidFill>
                  <a:srgbClr val="F5F0E6"/>
                </a:solidFill>
                <a:latin typeface="Georgia"/>
              </a:defRPr>
            </a:pPr>
            <a:endParaRPr/>
          </a:p>
          <a:p>
            <a:pPr>
              <a:spcAft>
                <a:spcPts val="1152"/>
              </a:spcAft>
              <a:defRPr sz="2400" b="1">
                <a:solidFill>
                  <a:srgbClr val="F5F0E6"/>
                </a:solidFill>
                <a:latin typeface="Georgia"/>
              </a:defRPr>
            </a:pPr>
            <a:r>
              <a:t>Ruf morgen im Vetamt 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9418320" cy="1828800"/>
          </a:xfrm>
          <a:prstGeom prst="rect">
            <a:avLst/>
          </a:prstGeom>
          <a:solidFill>
            <a:srgbClr val="3A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374904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r>
              <a:rPr dirty="0"/>
              <a:t>"</a:t>
            </a:r>
            <a:r>
              <a:rPr dirty="0" err="1"/>
              <a:t>Guten</a:t>
            </a:r>
            <a:r>
              <a:rPr dirty="0"/>
              <a:t> Tag, ich bin Silvio Brunetti </a:t>
            </a:r>
            <a:r>
              <a:rPr dirty="0" err="1"/>
              <a:t>vom</a:t>
            </a:r>
            <a:r>
              <a:rPr dirty="0"/>
              <a:t> Ristorante Goldoni.</a:t>
            </a:r>
          </a:p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r>
              <a:rPr dirty="0"/>
              <a:t>Ich </a:t>
            </a:r>
            <a:r>
              <a:rPr dirty="0" err="1"/>
              <a:t>möchte</a:t>
            </a:r>
            <a:r>
              <a:rPr dirty="0"/>
              <a:t> </a:t>
            </a:r>
            <a:r>
              <a:rPr dirty="0" err="1"/>
              <a:t>zusätzlich</a:t>
            </a:r>
            <a:r>
              <a:rPr dirty="0"/>
              <a:t> </a:t>
            </a:r>
            <a:r>
              <a:rPr dirty="0" err="1"/>
              <a:t>vakuumierte</a:t>
            </a:r>
            <a:r>
              <a:rPr dirty="0"/>
              <a:t> </a:t>
            </a:r>
            <a:r>
              <a:rPr dirty="0" err="1"/>
              <a:t>Speisen</a:t>
            </a:r>
            <a:endParaRPr dirty="0"/>
          </a:p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Mitnehmen</a:t>
            </a:r>
            <a:r>
              <a:rPr dirty="0"/>
              <a:t> </a:t>
            </a:r>
            <a:r>
              <a:rPr dirty="0" err="1"/>
              <a:t>anbieten</a:t>
            </a:r>
            <a:r>
              <a:rPr dirty="0"/>
              <a:t>.</a:t>
            </a:r>
          </a:p>
          <a:p>
            <a:pPr>
              <a:spcAft>
                <a:spcPts val="960"/>
              </a:spcAft>
              <a:defRPr sz="2000" b="0">
                <a:solidFill>
                  <a:srgbClr val="F5F0E6"/>
                </a:solidFill>
                <a:latin typeface="Georgia"/>
              </a:defRPr>
            </a:pPr>
            <a:r>
              <a:rPr dirty="0" err="1"/>
              <a:t>Können</a:t>
            </a:r>
            <a:r>
              <a:rPr dirty="0"/>
              <a:t> Sie mir </a:t>
            </a:r>
            <a:r>
              <a:rPr dirty="0" err="1"/>
              <a:t>sagen</a:t>
            </a:r>
            <a:r>
              <a:rPr dirty="0"/>
              <a:t>, was ich </a:t>
            </a:r>
            <a:r>
              <a:rPr dirty="0" err="1"/>
              <a:t>dafür</a:t>
            </a:r>
            <a:r>
              <a:rPr dirty="0"/>
              <a:t> </a:t>
            </a:r>
            <a:r>
              <a:rPr dirty="0" err="1"/>
              <a:t>brauche</a:t>
            </a:r>
            <a:r>
              <a:rPr dirty="0"/>
              <a:t>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A25C"/>
                </a:solidFill>
                <a:latin typeface="Georgia"/>
              </a:defRPr>
            </a:pPr>
            <a:r>
              <a:rPr dirty="0"/>
              <a:t>Eine Nummer, </a:t>
            </a:r>
            <a:r>
              <a:rPr dirty="0" err="1"/>
              <a:t>eine</a:t>
            </a:r>
            <a:r>
              <a:rPr dirty="0"/>
              <a:t> Frage, </a:t>
            </a:r>
            <a:r>
              <a:rPr dirty="0" err="1"/>
              <a:t>zehn</a:t>
            </a:r>
            <a:r>
              <a:rPr dirty="0"/>
              <a:t> Minuten. Alles </a:t>
            </a:r>
            <a:r>
              <a:rPr dirty="0" err="1"/>
              <a:t>andere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 </a:t>
            </a:r>
            <a:r>
              <a:rPr dirty="0" err="1"/>
              <a:t>danach</a:t>
            </a:r>
            <a:r>
              <a:rPr dirty="0"/>
              <a:t> — und </a:t>
            </a:r>
            <a:r>
              <a:rPr dirty="0" err="1"/>
              <a:t>alles</a:t>
            </a:r>
            <a:r>
              <a:rPr dirty="0"/>
              <a:t> </a:t>
            </a:r>
            <a:r>
              <a:rPr dirty="0" err="1"/>
              <a:t>andere</a:t>
            </a:r>
            <a:r>
              <a:rPr dirty="0"/>
              <a:t> </a:t>
            </a:r>
            <a:r>
              <a:rPr dirty="0" err="1"/>
              <a:t>bereite</a:t>
            </a:r>
            <a:r>
              <a:rPr dirty="0"/>
              <a:t> ich </a:t>
            </a:r>
            <a:r>
              <a:rPr dirty="0" err="1"/>
              <a:t>vor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</Words>
  <Application>Microsoft Macintosh PowerPoint</Application>
  <PresentationFormat>Breitbild</PresentationFormat>
  <Paragraphs>211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German Rauhut</cp:lastModifiedBy>
  <cp:revision>2</cp:revision>
  <dcterms:created xsi:type="dcterms:W3CDTF">2013-01-27T09:14:16Z</dcterms:created>
  <dcterms:modified xsi:type="dcterms:W3CDTF">2026-04-14T13:51:18Z</dcterms:modified>
  <cp:category/>
</cp:coreProperties>
</file>